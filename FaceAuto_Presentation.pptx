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926080" cy="347472"/>
          </a:xfrm>
          <a:prstGeom prst="roundRect">
            <a:avLst/>
          </a:prstGeom>
          <a:solidFill>
            <a:srgbClr val="21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B8A6"/>
                </a:solidFill>
                <a:latin typeface="Segoe UI"/>
              </a:rPr>
              <a:t>UTM FAF • ENGLISH HONOURS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FaceAuto</a:t>
            </a:r>
          </a:p>
          <a:p>
            <a:pPr>
              <a:spcBef>
                <a:spcPts val="800"/>
              </a:spcBef>
              <a:defRPr sz="2800" b="1">
                <a:solidFill>
                  <a:srgbClr val="14B8A6"/>
                </a:solidFill>
                <a:latin typeface="Segoe UI"/>
              </a:defRPr>
            </a:pPr>
            <a:r>
              <a:t>Intelligent Used Car Valuation &amp;</a:t>
            </a:r>
            <a:br/>
            <a:r>
              <a:t>Market Transparency Platform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Statistical deal scoring (0-80), real-time odometer &amp; price anomaly detection, and machine learning market estimators built with engineering rigor.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6583680" cy="1188720"/>
          </a:xfrm>
          <a:prstGeom prst="roundRect">
            <a:avLst/>
          </a:prstGeom>
          <a:solidFill>
            <a:srgbClr val="212C39"/>
          </a:solidFill>
          <a:ln w="12700">
            <a:solidFill>
              <a:srgbClr val="2E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Team Members &amp; Specializations: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Maxim Siloci (Team Lead / Full Stack)       • Dan Rotari (ML &amp; Valuation Engine)</a:t>
            </a:r>
            <a:br/>
            <a:r>
              <a:t>• Cristian Gluhu (Frontend &amp; i18n)               • Mihai Stamati (QA Engineer &amp; Testing)</a:t>
            </a:r>
            <a:br/>
            <a:r>
              <a:t>• Marius Gheorghita (Data Engineering &amp; Scraping)</a:t>
            </a:r>
          </a:p>
        </p:txBody>
      </p:sp>
      <p:pic>
        <p:nvPicPr>
          <p:cNvPr id="7" name="Picture 6" descr="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754880" cy="2662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Used Car Dilemma: Information Asymmetry &amp; Market Friction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Buyers and sellers face pervasive uncertainty, unreliable prices, and undetectable odometer fraud.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Subjective &amp; Distorted Prices</a:t>
            </a:r>
          </a:p>
          <a:p>
            <a:pPr>
              <a:spcBef>
                <a:spcPts val="800"/>
              </a:spcBef>
              <a:defRPr sz="2800" b="1">
                <a:solidFill>
                  <a:srgbClr val="92400E"/>
                </a:solidFill>
                <a:latin typeface="Segoe UI"/>
              </a:defRPr>
            </a:pPr>
            <a:r>
              <a:t>+28%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Average price spread on identical models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Sellers set arbitrary prices based on sentiment rather than depreciation math.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Buyers lack statistical baseline to know if a deal is legitimately discounted or overpriced.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Current classified sites provide no real valuation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192024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  <a:latin typeface="Segoe UI"/>
              </a:rPr>
              <a:t>ASYMMETRIC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Hidden Mileage Rollbacks</a:t>
            </a:r>
          </a:p>
          <a:p>
            <a:pPr>
              <a:spcBef>
                <a:spcPts val="800"/>
              </a:spcBef>
              <a:defRPr sz="2800" b="1">
                <a:solidFill>
                  <a:srgbClr val="991B1B"/>
                </a:solidFill>
                <a:latin typeface="Segoe UI"/>
              </a:defRPr>
            </a:pPr>
            <a:r>
              <a:t>1 in 4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Imported vehicles with tampered odometers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Rollbacks falsify wear, inflating asking prices by up to €3,500.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Scam ads pose as 'low mileage elderly owners' to exploit naive buyers.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Salvage and taxi histories are systematically masked in listing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2148840"/>
            <a:ext cx="192024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91B1B"/>
                </a:solidFill>
                <a:latin typeface="Segoe UI"/>
              </a:rPr>
              <a:t>SYSTEMIC FRAUD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Unstructured &amp; Dirty Data</a:t>
            </a:r>
          </a:p>
          <a:p>
            <a:pPr>
              <a:spcBef>
                <a:spcPts val="800"/>
              </a:spcBef>
              <a:defRPr sz="2800" b="1">
                <a:solidFill>
                  <a:srgbClr val="115E59"/>
                </a:solidFill>
                <a:latin typeface="Segoe UI"/>
              </a:defRPr>
            </a:pPr>
            <a:r>
              <a:t>60,000+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Active ads with inconsistent trim nomenclature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Listing descriptions mix languages (RO, RU, EN) and unstandardized specs.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Trim levels (e.g., M-Sport, S-Line, AMG Line) are mislabeled or omitted.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Manual multi-site cross-referencing takes hours per vehicle.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2148840"/>
            <a:ext cx="192024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MARKET FRAGMENTATION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PLATFORM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Solution: FaceAuto End-to-End Analytics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Transforming fragmented automotive classifieds into an algorithmic, transparent marketplace.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PILLAR 01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Algorithmic Deal Scoring (0–80)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Proprietary piecewise valuation model with diminishing returns (+1.3, +1.0, +0.5) and an aggressive scam drop (&gt;35% below market) that shields buyers from fraud.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PILLAR 02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Multi-Factor Anomaly Risk Engine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Automated statistical inspection isolating mileage-per-year anomalies, extreme price outliers via P10-P90 percentiles, and suspicious technical configurations.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PILLAR 03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Exponential Weighted Price Estimator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Real-time fair market value prediction using dual Gaussian/exponential distance weighting on vehicle age (Δyr/3) and odometer delta (Δkm/100k).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PILLAR 04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Modern Full-Stack Engineering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FastAPI asynchronous microservice delivering sub-150ms queries over 60,000+ cached listings, paired with React 19, 3D vehicle viewers, and 3-way comparisons.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ENGINEERING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Meet the Team: 5 Software Engineering Honours Students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Technical University of Moldova (UTM) • Faculty of Computers, Informatics &amp; Microelectronics (FAF)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0299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74519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Maxim Siloci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14B8A6"/>
                </a:solidFill>
                <a:latin typeface="Segoe UI"/>
              </a:defRPr>
            </a:pPr>
            <a:r>
              <a:t>Team Lead &amp; Full Stack Developer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FastAPI backend architecture &amp; REST APIs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React 19 interactive core layout &amp; state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System integration &amp; sprint coordination</a:t>
            </a:r>
          </a:p>
        </p:txBody>
      </p:sp>
      <p:pic>
        <p:nvPicPr>
          <p:cNvPr id="6" name="Picture 5" descr="siloci-max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011680"/>
            <a:ext cx="1645920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07792" y="1874519"/>
            <a:ext cx="20299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74519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Dan Rotari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14B8A6"/>
                </a:solidFill>
                <a:latin typeface="Segoe UI"/>
              </a:defRPr>
            </a:pPr>
            <a:r>
              <a:t>ML &amp; Valuation Engine Engineer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Proprietary 0-80 Deal Scoring algorithm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Exponential weighted price estimator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Statistical anomaly &amp; risk classification</a:t>
            </a:r>
          </a:p>
        </p:txBody>
      </p:sp>
      <p:pic>
        <p:nvPicPr>
          <p:cNvPr id="8" name="Picture 7" descr="rotari-d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2011680"/>
            <a:ext cx="1645920" cy="1645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84064" y="1874519"/>
            <a:ext cx="20299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74519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Cristian Gluhu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14B8A6"/>
                </a:solidFill>
                <a:latin typeface="Segoe UI"/>
              </a:defRPr>
            </a:pPr>
            <a:r>
              <a:t>Frontend Developer &amp; i18n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Multilingual system (RO, EN, RU)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3-car interactive comparator tool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Responsive UI components &amp; theme styling</a:t>
            </a:r>
          </a:p>
        </p:txBody>
      </p:sp>
      <p:pic>
        <p:nvPicPr>
          <p:cNvPr id="10" name="Picture 9" descr="gluhu-cristi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011680"/>
            <a:ext cx="1645920" cy="1645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0336" y="1874519"/>
            <a:ext cx="20299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74519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Mihai Stamati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14B8A6"/>
                </a:solidFill>
                <a:latin typeface="Segoe UI"/>
              </a:defRPr>
            </a:pPr>
            <a:r>
              <a:t>QA Engineer &amp; Verification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Comprehensive test suite (49 unit tests)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Pydantic schemas &amp; edge-case validation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Performance benchmarking &amp; regression tests</a:t>
            </a:r>
          </a:p>
        </p:txBody>
      </p:sp>
      <p:pic>
        <p:nvPicPr>
          <p:cNvPr id="12" name="Picture 11" descr="stamati-mih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011680"/>
            <a:ext cx="1645920" cy="1645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36608" y="1874519"/>
            <a:ext cx="20299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74519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Marius Gheorghita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14B8A6"/>
                </a:solidFill>
                <a:latin typeface="Segoe UI"/>
              </a:defRPr>
            </a:pPr>
            <a:r>
              <a:t>Data Engineer &amp; Scraping Lead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Scrapy pipeline for 60,000+ car listings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Regex normalization &amp; trim classification</a:t>
            </a:r>
          </a:p>
          <a:p>
            <a:pPr algn="l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PostgreSQL schema design &amp; data deduplication</a:t>
            </a:r>
          </a:p>
        </p:txBody>
      </p:sp>
      <p:pic>
        <p:nvPicPr>
          <p:cNvPr id="14" name="Picture 13" descr="gheorghita-mari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20116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Modern Full-Stack Distributed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Designed for high throughput data ingestion, millisecond analytical queries, and fluid interactive UX.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React 19 + TypeScript + Vite</a:t>
            </a:r>
          </a:p>
          <a:p>
            <a:pPr>
              <a:spcBef>
                <a:spcPts val="300"/>
              </a:spcBef>
              <a:defRPr sz="1000" b="1">
                <a:solidFill>
                  <a:srgbClr val="14B8A6"/>
                </a:solidFill>
                <a:latin typeface="Segoe UI"/>
              </a:defRPr>
            </a:pPr>
            <a:r>
              <a:t>TailwindCSS • Lucide Icons • Canvas 3D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Component-driven architecture with zero layout-shift hydration.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Custom client-side cache for car comparison matrix.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Lightweight Three.js / Canvas 3D interactive car model renderer.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Multi-language provider (EN, RO, RU) with instant client-side switching.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164592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CLIENT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FastAPI + Asynchronous Python 3.11</a:t>
            </a:r>
          </a:p>
          <a:p>
            <a:pPr>
              <a:spcBef>
                <a:spcPts val="300"/>
              </a:spcBef>
              <a:defRPr sz="1000" b="1">
                <a:solidFill>
                  <a:srgbClr val="14B8A6"/>
                </a:solidFill>
                <a:latin typeface="Segoe UI"/>
              </a:defRPr>
            </a:pPr>
            <a:r>
              <a:t>Uvicorn • Pydantic v2 • NumPy • SciPy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Asynchronous endpoint execution serving requests under 150ms.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In-memory analytical caching for frequent make/model percentile queries.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Vectorized calculation of exponential distance weights ($w_i$).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Strict Pydantic request/response contract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2148840"/>
            <a:ext cx="164592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API &amp; COMPUTATION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PostgreSQL (Aiven Cloud) + Scrapy</a:t>
            </a:r>
          </a:p>
          <a:p>
            <a:pPr>
              <a:spcBef>
                <a:spcPts val="300"/>
              </a:spcBef>
              <a:defRPr sz="1000" b="1">
                <a:solidFill>
                  <a:srgbClr val="14B8A6"/>
                </a:solidFill>
                <a:latin typeface="Segoe UI"/>
              </a:defRPr>
            </a:pPr>
            <a:r>
              <a:t>SQLAlchemy • Cloud DB • Async Workers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Managed PostgreSQL instance with compound indexing on (make, model, year, km).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Scrapy pipeline continuously refreshing 60,000+ active car ads.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Automated regex cleaning, trim parsing, and currency conversion.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Audit logging for data drift and anomalous price alterations.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2148840"/>
            <a:ext cx="164592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PERSISTENCE &amp;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Data Pipeline: From Raw Listings to Clean Analytics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Robust scraping, multi-language normalization, and hierarchical grouping across 60,000+ car listings.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STEP 01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Scraping &amp; Ingestion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High-concurrency scrapers targeting automotive portals; rate-limiting compliance and proxy rotation.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STEP 02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Regex Normalization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Extracting mileage, engine capacity, fuel types, and trim lines from Romanian, Russian &amp; English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STEP 03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Deduplication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Hashing VINs, phone numbers, and image fingerprints to purge duplicate postings and expired 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92024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STEP 04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Generation Tagging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Mapping raw year &amp; body styles into exact automotive generations (e.g., Golf VII vs Golf VIII).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8655" cy="1874519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Key Pipeline Challenges &amp; Solutions: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Language &amp; Nomenclature Discrepancies: Automatic translation dictionaries and regex heuristics convert 'automat', 'автомат', and 'automatic' into standardized enum types.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Missing or Faulty VIN Records: Vehicles without VINs are indexed under robust statistical peer groups rather than discarded, preserving market depth.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Currency Fluctuations: Multi-currency parsing (EUR, USD, MDL) converts daily asking prices to fixed EUR baselines for consistent historical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ALGORITHM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Core Feature 1: Deal Scoring Engine (0–80 Scale)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Hierarchical peer grouping, outlier filtration, and regression-based price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Statistical Grouping &amp; Baseline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• Hierarchical Grouping (L1 &amp; L2): </a:t>
            </a:r>
            <a:r>
              <a:rPr b="0">
                <a:solidFill>
                  <a:srgbClr val="0F172A"/>
                </a:solidFill>
              </a:rPr>
              <a:t>L1 searches exact Make + Model + Generation + Fuel + Gearbox (minimum 5 peers). If sample size &lt; 5, falls back to L2: Make + Model + Year range ±1 year.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• Outlier Exclusion (P10–P90): </a:t>
            </a:r>
            <a:r>
              <a:rPr b="0">
                <a:solidFill>
                  <a:srgbClr val="0F172A"/>
                </a:solidFill>
              </a:rPr>
              <a:t>Filters the top 10% and bottom 10% extreme prices to eliminate typos (e.g., €1, €123,456) and uncharacteristic auction artifacts.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• Dynamic Depreciation Slope: </a:t>
            </a:r>
            <a:r>
              <a:rPr b="0">
                <a:solidFill>
                  <a:srgbClr val="0F172A"/>
                </a:solidFill>
              </a:rPr>
              <a:t>Fits linear regression: Price = α - β × Odometer (km), accounting for realistic wear within the specific peer group.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• Baseline Normalized Score (50 Pts): </a:t>
            </a:r>
            <a:r>
              <a:rPr b="0">
                <a:solidFill>
                  <a:srgbClr val="0F172A"/>
                </a:solidFill>
              </a:rPr>
              <a:t>A car priced exactly at fair market value receives an initial baseline score of 50 / 80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Score Interpretation Tiers</a:t>
            </a:r>
          </a:p>
          <a:p>
            <a:pPr>
              <a:spcBef>
                <a:spcPts val="800"/>
              </a:spcBef>
              <a:defRPr sz="1100" b="1">
                <a:solidFill>
                  <a:srgbClr val="166534"/>
                </a:solidFill>
                <a:latin typeface="Segoe UI"/>
              </a:defRPr>
            </a:pPr>
            <a:r>
              <a:t>[70 – 80]  GREAT DEAL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Price significantly below market (15-30% discount) with clean history and genuine mileage.</a:t>
            </a:r>
          </a:p>
          <a:p>
            <a:pPr>
              <a:spcBef>
                <a:spcPts val="800"/>
              </a:spcBef>
              <a:defRPr sz="1100" b="1">
                <a:solidFill>
                  <a:srgbClr val="115E59"/>
                </a:solidFill>
                <a:latin typeface="Segoe UI"/>
              </a:defRPr>
            </a:pPr>
            <a:r>
              <a:t>[55 – 69]  GOOD DEAL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Fairly priced under peer median (5-15% discount), reliable seller metrics.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[40 – 54]  FAIR / AVERAGE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Priced directly at expected market depreciation value (±5% of peer median).</a:t>
            </a:r>
          </a:p>
          <a:p>
            <a:pPr>
              <a:spcBef>
                <a:spcPts val="800"/>
              </a:spcBef>
              <a:defRPr sz="1100" b="1">
                <a:solidFill>
                  <a:srgbClr val="92400E"/>
                </a:solidFill>
                <a:latin typeface="Segoe UI"/>
              </a:defRPr>
            </a:pPr>
            <a:r>
              <a:t>[25 – 39]  OVERPRICED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Above market average (10-25% premium) without clear equipment justification.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[0 – 24]  BAD DEAL / SUSPICIOUS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Grossly overpriced (&gt;25%) OR flagged for severe fraud/rollback penalties.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FRAUD PREVENTION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Deal Scoring: Progressive Tiers &amp; Anti-Scam Shield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Why FaceAuto scores don't blindly reward ultra-cheap cars: Diminishing returns &amp; fraud cliffs.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Piecewise Diminishing Returns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Formula: Points added per 1% discount below market median:</a:t>
            </a:r>
          </a:p>
          <a:p>
            <a:pPr>
              <a:spcBef>
                <a:spcPts val="6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0% – 10% Discount  ➔  +1.3 pts per 1%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Initial realistic market discount; high confidence reward.</a:t>
            </a:r>
          </a:p>
          <a:p>
            <a:pPr>
              <a:spcBef>
                <a:spcPts val="6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10% – 20% Discount  ➔  +1.0 pt per 1%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Solid bargain; slight tapering of score growth.</a:t>
            </a:r>
          </a:p>
          <a:p>
            <a:pPr>
              <a:spcBef>
                <a:spcPts val="6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20% – 30% Discount  ➔  +0.5 pts per 1%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Deep discount; diminishing returns to prevent artificial inflation.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F766E"/>
                </a:solidFill>
                <a:latin typeface="Segoe UI"/>
              </a:defRPr>
            </a:pPr>
            <a:r>
              <a:t>30% – 35% Discount  ➔  Plateau (+0 pts)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Approaching extreme discount limit; score caps at 80 max.</a:t>
            </a:r>
          </a:p>
          <a:p>
            <a:pPr>
              <a:spcBef>
                <a:spcPts val="600"/>
              </a:spcBef>
              <a:defRPr sz="1150" b="1">
                <a:solidFill>
                  <a:srgbClr val="991B1B"/>
                </a:solidFill>
                <a:latin typeface="Segoe UI"/>
              </a:defRPr>
            </a:pPr>
            <a:r>
              <a:t>&gt; 35% Discount  ➔  FRAUD DROP CLIFF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Scores drops sharply (-2.0 pts per 1% extra discount). Cars priced 50% below market plummet toward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2024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Hard Caps &amp; Penalty Overrides</a:t>
            </a:r>
          </a:p>
          <a:p>
            <a:pPr>
              <a:spcBef>
                <a:spcPts val="6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• Odometer Rollback Detected: Score Capped at 20 / 80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Any listing with proven mileage tampering is immediately demoted to failing tier regardless of asking price.</a:t>
            </a:r>
          </a:p>
          <a:p>
            <a:pPr>
              <a:spcBef>
                <a:spcPts val="6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• Commercial / Taxi History: -15 Pts Penalty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Commercial wear heavily impacts long-term reliability and market resale value.</a:t>
            </a:r>
          </a:p>
          <a:p>
            <a:pPr>
              <a:spcBef>
                <a:spcPts val="6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• Suspected Scam / Phishing Price: Score Capped at 20 / 80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Prices &gt;40% below peer minimum trigger phishing / fake ad containment mode.</a:t>
            </a:r>
          </a:p>
          <a:p>
            <a:pPr>
              <a:spcBef>
                <a:spcPts val="6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• Salvage / Total Loss Title: Score Capped at 10 / 80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Severe structural damage history limits maximum achievable deal score to 10.</a:t>
            </a:r>
          </a:p>
          <a:p>
            <a:pPr>
              <a:spcBef>
                <a:spcPts val="600"/>
              </a:spcBef>
              <a:defRPr sz="1100" b="1">
                <a:solidFill>
                  <a:srgbClr val="991B1B"/>
                </a:solidFill>
                <a:latin typeface="Segoe UI"/>
              </a:defRPr>
            </a:pPr>
            <a:r>
              <a:t>• Missing / Incomplete Key Data: -5 Pts Confidence Penalty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Sellers concealing transmission or engine codes receive transparency deductions.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Core Feature 2: Statistical Anomaly &amp; Risk Detection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Automated inspection isolating manipulated listings, unnatural wear, and outlier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Unrealistic Odometer per Year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Expected baseline: 10,000 – 25,000 km / year across passenger vehicles.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&lt; 3,000 km / year on 10+ year cars triggers 'Suspected Rollback' warning.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&gt; 50,000 km / year flags vehicle as likely fleet or ride-share unit.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Cross-verified against technical inspection records when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201168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  <a:latin typeface="Segoe UI"/>
              </a:rPr>
              <a:t>MILEAGE ANOMALIES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P10–P90 Range &amp; &gt;45% Override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Constructs tight distribution curve for every make/model generation.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Cars &gt;45% above peer median trigger 'Extreme Overprice Warning'.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Cars &gt;45% below peer median trigger 'Extreme Scam Hazard Warning'.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Protects users from downpayment fraud schemes prevalent on social 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2148840"/>
            <a:ext cx="201168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91B1B"/>
                </a:solidFill>
                <a:latin typeface="Segoe UI"/>
              </a:rPr>
              <a:t>PERCENTILE OUTLIERS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Technical Configuration Checks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Flags impossible combinations (e.g., 2012 BMW 320d listed with 600 HP).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Detects mismatched generation years vs body code (e.g., 2021 E-Class with W212 specs).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Flags salvage titles disguised as 'Accident Free' via title keyword parsing.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2148840"/>
            <a:ext cx="201168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SPEC MISMATCHES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MACHINE LEARNING &amp;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Core Feature 3: Exponentially Weighted Price Estimator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Real-time non-parametric valuation weighting peer cars by age and odometer similarity.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Bef>
                <a:spcPts val="6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Weighting Function:</a:t>
            </a:r>
          </a:p>
          <a:p>
            <a:pPr>
              <a:spcBef>
                <a:spcPts val="400"/>
              </a:spcBef>
              <a:defRPr sz="1200" b="1">
                <a:solidFill>
                  <a:srgbClr val="17202A"/>
                </a:solidFill>
                <a:latin typeface="Consolas"/>
              </a:defRPr>
            </a:pPr>
            <a:r>
              <a:t>w_i = exp( - |Year_target - Year_i| / 3 ) ×</a:t>
            </a:r>
            <a:br/>
            <a:r>
              <a:t>        exp( - |KM_target - KM_i| / 100,000 )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Fair Market Price Estimate:</a:t>
            </a:r>
          </a:p>
          <a:p>
            <a:pPr>
              <a:spcBef>
                <a:spcPts val="400"/>
              </a:spcBef>
              <a:defRPr sz="1200" b="1">
                <a:solidFill>
                  <a:srgbClr val="17202A"/>
                </a:solidFill>
                <a:latin typeface="Consolas"/>
              </a:defRPr>
            </a:pPr>
            <a:r>
              <a:t>Estimated Price = Σ (w_i × Price_i) / Σ w_i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Why Exponential Decay?</a:t>
            </a:r>
            <a:br/>
            <a:r>
              <a:t>Unlike rigid nearest-neighbors or rigid linear regressions, exponential decay naturally gives massive influence to near-identical age and mileage peers, while allowing distant peers to contribute smoothly without overfitting or step-function cliffs.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2024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Confidence Bands &amp; Distribution</a:t>
            </a:r>
          </a:p>
          <a:p>
            <a:pPr>
              <a:spcBef>
                <a:spcPts val="800"/>
              </a:spcBef>
              <a:defRPr sz="1100" b="1">
                <a:solidFill>
                  <a:srgbClr val="166534"/>
                </a:solidFill>
                <a:latin typeface="Segoe UI"/>
              </a:defRPr>
            </a:pPr>
            <a:r>
              <a:t>P20 – P30 Percentile  ➔  Bargain Range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Competitive deals with legitimate seller motivations (fast liquidation).</a:t>
            </a:r>
          </a:p>
          <a:p>
            <a:pPr>
              <a:spcBef>
                <a:spcPts val="800"/>
              </a:spcBef>
              <a:defRPr sz="1100" b="1">
                <a:solidFill>
                  <a:srgbClr val="115E59"/>
                </a:solidFill>
                <a:latin typeface="Segoe UI"/>
              </a:defRPr>
            </a:pPr>
            <a:r>
              <a:t>P40 – P60 Percentile  ➔  Fair Market Value (Median)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Equilibrium price reflecting actual vehicle age, wear, and market demand.</a:t>
            </a:r>
          </a:p>
          <a:p>
            <a:pPr>
              <a:spcBef>
                <a:spcPts val="800"/>
              </a:spcBef>
              <a:defRPr sz="1100" b="1">
                <a:solidFill>
                  <a:srgbClr val="92400E"/>
                </a:solidFill>
                <a:latin typeface="Segoe UI"/>
              </a:defRPr>
            </a:pPr>
            <a:r>
              <a:t>P70 – P80 Percentile  ➔  Premium / Dealer Range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Vehicles with exceptional trim, single owner history, or dealer warranty.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Sample Depth Constraint  ➔  Min N = 5 Requirement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If weighted peer count &lt; 5, algorithm returns wide confidence interval and issues a low data warning.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Interactive Frontend: Designed for Decision Making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Fast, responsive React 19 interface with 3D visualization, multilingual support, and comparisons.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FEATURE 01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3D Interactive Vehicle Viewer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Built with WebGL Canvas. Users can inspect vehicles in full 360-degree rotation, toggle exterior colors, and preview body dimensions directly in browser without heavy plugins.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FEATURE 02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3-Car Head-to-Head Comparator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Side-by-side spec comparison highlighting price deltas, deal scores, fuel efficiency, mileage anomalies, and equipment gaps in an intuitive visual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FEATURE 03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Multilingual Architecture (RO / EN / RU)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Full internationalization system created for the Moldovan and Eastern European market, handling currency translation, localized trim labels, and instant language switching.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FEATURE 04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Saved Cars &amp; Analytics Dashboard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Client-side saved car bookmarks with price change tracking, historical market trend graphs, and personalized deal alerts for savvy car shoppers.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Engineering Rigor: Verified Testing &amp; Quality Assurance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Systematic verification led by QA Engineer Mihai Stamati ensuring algorithmic correctness and stability.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Comprehensive Unit Test Suite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100% test pass rate across all valuation endpoints.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Edge-case testing on boundary values (0 km, 1,000,000 km, extreme prices).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Validation of mathematical monotonicity: cheaper price always yields higher or equal score until scam threshold.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Deterministic verification of exponential decay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201168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6534"/>
                </a:solidFill>
                <a:latin typeface="Segoe UI"/>
              </a:rPr>
              <a:t>49 AUTOMATED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Strict Pydantic Contracts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Zero unhandled TypeErrors across API boundaries.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Sanitization of scraper output strings before persistence.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Automated enforcement of required listing attributes.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FastAPI OpenAPI documentation auto-generated with strict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2148840"/>
            <a:ext cx="201168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SCHEMA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Sub-150ms Latency SLA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PostgreSQL compound index tuning on (make, model, year, km).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NumPy vectorized math eliminating iterative Python overhead.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Client-side React 19 render optimization preventing unnecessary refetches.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Graceful degradation when network latency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2148840"/>
            <a:ext cx="201168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E"/>
                </a:solidFill>
                <a:latin typeface="Segoe UI"/>
              </a:rPr>
              <a:t>PERFORMANCE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Measurable Engineering Achievements &amp; Results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Empirical performance, data volume, and algorithmic accuracy across the production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60,000+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Active Listings Ingested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Parsed, normalized &amp; continually synchronized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920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0 – 80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Deal Scoring Scale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Standardized valuation score across all car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920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&lt; 150 ms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Mean API Response Time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Fast real-time percentile queries on cloud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49 / 49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Automated Unit Tests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100% pass rate on edge cases and mathematical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4206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3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Languages Supported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Complete i18n coverage (Romanian, English, Russian)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42062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Modern Tech Adoption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React 19, FastAPI, PostgreSQL Aiven, Docker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5E59"/>
                </a:solidFill>
                <a:latin typeface="Segoe UI"/>
              </a:rPr>
              <a:t>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Future Roadmap: Expanding the FaceAuto Ecosystem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Short-term features and long-term research directions to further elevate platform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VIN History Integration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Direct API partnership with CarVertical &amp; AutoDNA.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Automated damage salvage report overlays on vehicle cards.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Stolen vehicle database real-time cross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182880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PHASE 1 (Q3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Predictive Resale Forecasting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Time-series ML forecasting 3-year depreciation trajectory.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Cost-of-ownership index (maintenance, fuel, insurance per model).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Optimal selling window recommendation engine for owners.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2148840"/>
            <a:ext cx="182880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PHASE 2 (Q4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Native Mobile App &amp; B2B APIs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React Native mobile app with camera VIN &amp; license plate OCR.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B2B SaaS pricing API for auto dealerships and bank loan underwriters.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Expansion to regional Eastern European auto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2148840"/>
            <a:ext cx="1828800" cy="2743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5E59"/>
                </a:solidFill>
                <a:latin typeface="Segoe UI"/>
              </a:rPr>
              <a:t>PHASE 3 (2027)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94560" cy="347472"/>
          </a:xfrm>
          <a:prstGeom prst="roundRect">
            <a:avLst/>
          </a:prstGeom>
          <a:solidFill>
            <a:srgbClr val="21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B8A6"/>
                </a:solidFill>
                <a:latin typeface="Segoe UI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Bringing Mathematical Truth &amp; Trust</a:t>
            </a:r>
            <a:br/>
            <a:r>
              <a:t>to the Used Car Market.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FaceAuto demonstrates how disciplined full-stack engineering, rigorous data cleaning, and statistical machine learning can eliminate market asymmetry and protect car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29000" cy="1554480"/>
          </a:xfrm>
          <a:prstGeom prst="roundRect">
            <a:avLst/>
          </a:prstGeom>
          <a:solidFill>
            <a:srgbClr val="212C39"/>
          </a:solidFill>
          <a:ln w="12700">
            <a:solidFill>
              <a:srgbClr val="2E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Transparent Scoring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0-80 normalized score with anti-scam diminishing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3931920"/>
            <a:ext cx="3429000" cy="1554480"/>
          </a:xfrm>
          <a:prstGeom prst="roundRect">
            <a:avLst/>
          </a:prstGeom>
          <a:solidFill>
            <a:srgbClr val="212C39"/>
          </a:solidFill>
          <a:ln w="12700">
            <a:solidFill>
              <a:srgbClr val="2E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Multi-Tiered Safety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odometer rollback &amp; price anomaly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3931920"/>
            <a:ext cx="3429000" cy="1554480"/>
          </a:xfrm>
          <a:prstGeom prst="roundRect">
            <a:avLst/>
          </a:prstGeom>
          <a:solidFill>
            <a:srgbClr val="212C39"/>
          </a:solidFill>
          <a:ln w="12700">
            <a:solidFill>
              <a:srgbClr val="2E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Sub-150ms latency across 60,000+ cached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12C39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Thank You! Questions &amp; Discussion  •  Technical University of Moldova (UTM)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